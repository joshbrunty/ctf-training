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5"/>
  </p:notesMasterIdLst>
  <p:sldIdLst>
    <p:sldId id="256" r:id="rId2"/>
    <p:sldId id="263" r:id="rId3"/>
    <p:sldId id="260" r:id="rId4"/>
    <p:sldId id="261" r:id="rId5"/>
    <p:sldId id="271" r:id="rId6"/>
    <p:sldId id="262" r:id="rId7"/>
    <p:sldId id="272" r:id="rId8"/>
    <p:sldId id="278" r:id="rId9"/>
    <p:sldId id="273" r:id="rId10"/>
    <p:sldId id="274" r:id="rId11"/>
    <p:sldId id="275" r:id="rId12"/>
    <p:sldId id="276" r:id="rId13"/>
    <p:sldId id="277" r:id="rId14"/>
  </p:sldIdLst>
  <p:sldSz cx="18288000" cy="10287000"/>
  <p:notesSz cx="6858000" cy="9144000"/>
  <p:embeddedFontLst>
    <p:embeddedFont>
      <p:font typeface="Red Hat Display" panose="02010303040201060303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80" d="100"/>
          <a:sy n="80" d="100"/>
        </p:scale>
        <p:origin x="824" y="20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unty, Josh" userId="7992ed44-f1d9-4699-9cbe-15aa119e22eb" providerId="ADAL" clId="{2F75515C-F4F9-5900-9184-FE57F26EEB0C}"/>
    <pc:docChg chg="undo custSel addSld modSld">
      <pc:chgData name="Brunty, Josh" userId="7992ed44-f1d9-4699-9cbe-15aa119e22eb" providerId="ADAL" clId="{2F75515C-F4F9-5900-9184-FE57F26EEB0C}" dt="2026-07-01T17:50:59.419" v="124" actId="20577"/>
      <pc:docMkLst>
        <pc:docMk/>
      </pc:docMkLst>
      <pc:sldChg chg="modSp mod">
        <pc:chgData name="Brunty, Josh" userId="7992ed44-f1d9-4699-9cbe-15aa119e22eb" providerId="ADAL" clId="{2F75515C-F4F9-5900-9184-FE57F26EEB0C}" dt="2026-07-01T17:43:24.230" v="29" actId="20577"/>
        <pc:sldMkLst>
          <pc:docMk/>
          <pc:sldMk cId="0" sldId="256"/>
        </pc:sldMkLst>
        <pc:spChg chg="mod">
          <ac:chgData name="Brunty, Josh" userId="7992ed44-f1d9-4699-9cbe-15aa119e22eb" providerId="ADAL" clId="{2F75515C-F4F9-5900-9184-FE57F26EEB0C}" dt="2026-07-01T17:43:12.771" v="10" actId="20577"/>
          <ac:spMkLst>
            <pc:docMk/>
            <pc:sldMk cId="0" sldId="256"/>
            <ac:spMk id="84" creationId="{00000000-0000-0000-0000-000000000000}"/>
          </ac:spMkLst>
        </pc:spChg>
        <pc:spChg chg="mod">
          <ac:chgData name="Brunty, Josh" userId="7992ed44-f1d9-4699-9cbe-15aa119e22eb" providerId="ADAL" clId="{2F75515C-F4F9-5900-9184-FE57F26EEB0C}" dt="2026-07-01T17:43:24.230" v="29" actId="20577"/>
          <ac:spMkLst>
            <pc:docMk/>
            <pc:sldMk cId="0" sldId="256"/>
            <ac:spMk id="85" creationId="{00000000-0000-0000-0000-000000000000}"/>
          </ac:spMkLst>
        </pc:spChg>
      </pc:sldChg>
      <pc:sldChg chg="addSp modSp mod">
        <pc:chgData name="Brunty, Josh" userId="7992ed44-f1d9-4699-9cbe-15aa119e22eb" providerId="ADAL" clId="{2F75515C-F4F9-5900-9184-FE57F26EEB0C}" dt="2026-07-01T17:46:10.773" v="77" actId="1076"/>
        <pc:sldMkLst>
          <pc:docMk/>
          <pc:sldMk cId="0" sldId="272"/>
        </pc:sldMkLst>
        <pc:spChg chg="mod">
          <ac:chgData name="Brunty, Josh" userId="7992ed44-f1d9-4699-9cbe-15aa119e22eb" providerId="ADAL" clId="{2F75515C-F4F9-5900-9184-FE57F26EEB0C}" dt="2026-07-01T17:46:07.078" v="76" actId="1076"/>
          <ac:spMkLst>
            <pc:docMk/>
            <pc:sldMk cId="0" sldId="272"/>
            <ac:spMk id="116" creationId="{00000000-0000-0000-0000-000000000000}"/>
          </ac:spMkLst>
        </pc:spChg>
        <pc:spChg chg="mod">
          <ac:chgData name="Brunty, Josh" userId="7992ed44-f1d9-4699-9cbe-15aa119e22eb" providerId="ADAL" clId="{2F75515C-F4F9-5900-9184-FE57F26EEB0C}" dt="2026-07-01T17:46:07.078" v="76" actId="1076"/>
          <ac:spMkLst>
            <pc:docMk/>
            <pc:sldMk cId="0" sldId="272"/>
            <ac:spMk id="117" creationId="{00000000-0000-0000-0000-000000000000}"/>
          </ac:spMkLst>
        </pc:spChg>
        <pc:spChg chg="mod">
          <ac:chgData name="Brunty, Josh" userId="7992ed44-f1d9-4699-9cbe-15aa119e22eb" providerId="ADAL" clId="{2F75515C-F4F9-5900-9184-FE57F26EEB0C}" dt="2026-07-01T17:45:52.345" v="73" actId="1076"/>
          <ac:spMkLst>
            <pc:docMk/>
            <pc:sldMk cId="0" sldId="272"/>
            <ac:spMk id="118" creationId="{00000000-0000-0000-0000-000000000000}"/>
          </ac:spMkLst>
        </pc:spChg>
        <pc:spChg chg="mod">
          <ac:chgData name="Brunty, Josh" userId="7992ed44-f1d9-4699-9cbe-15aa119e22eb" providerId="ADAL" clId="{2F75515C-F4F9-5900-9184-FE57F26EEB0C}" dt="2026-07-01T17:45:52.345" v="73" actId="1076"/>
          <ac:spMkLst>
            <pc:docMk/>
            <pc:sldMk cId="0" sldId="272"/>
            <ac:spMk id="119" creationId="{00000000-0000-0000-0000-000000000000}"/>
          </ac:spMkLst>
        </pc:spChg>
        <pc:spChg chg="mod">
          <ac:chgData name="Brunty, Josh" userId="7992ed44-f1d9-4699-9cbe-15aa119e22eb" providerId="ADAL" clId="{2F75515C-F4F9-5900-9184-FE57F26EEB0C}" dt="2026-07-01T17:45:56.391" v="75" actId="1076"/>
          <ac:spMkLst>
            <pc:docMk/>
            <pc:sldMk cId="0" sldId="272"/>
            <ac:spMk id="120" creationId="{00000000-0000-0000-0000-000000000000}"/>
          </ac:spMkLst>
        </pc:spChg>
        <pc:picChg chg="add mod">
          <ac:chgData name="Brunty, Josh" userId="7992ed44-f1d9-4699-9cbe-15aa119e22eb" providerId="ADAL" clId="{2F75515C-F4F9-5900-9184-FE57F26EEB0C}" dt="2026-07-01T17:46:10.773" v="77" actId="1076"/>
          <ac:picMkLst>
            <pc:docMk/>
            <pc:sldMk cId="0" sldId="272"/>
            <ac:picMk id="3" creationId="{F5410F27-98F8-D2AC-316D-E6AE8276A61B}"/>
          </ac:picMkLst>
        </pc:picChg>
      </pc:sldChg>
      <pc:sldChg chg="modSp mod">
        <pc:chgData name="Brunty, Josh" userId="7992ed44-f1d9-4699-9cbe-15aa119e22eb" providerId="ADAL" clId="{2F75515C-F4F9-5900-9184-FE57F26EEB0C}" dt="2026-07-01T17:46:38.457" v="86" actId="207"/>
        <pc:sldMkLst>
          <pc:docMk/>
          <pc:sldMk cId="0" sldId="273"/>
        </pc:sldMkLst>
        <pc:spChg chg="mod">
          <ac:chgData name="Brunty, Josh" userId="7992ed44-f1d9-4699-9cbe-15aa119e22eb" providerId="ADAL" clId="{2F75515C-F4F9-5900-9184-FE57F26EEB0C}" dt="2026-07-01T17:46:38.457" v="86" actId="207"/>
          <ac:spMkLst>
            <pc:docMk/>
            <pc:sldMk cId="0" sldId="273"/>
            <ac:spMk id="109" creationId="{00000000-0000-0000-0000-000000000000}"/>
          </ac:spMkLst>
        </pc:spChg>
      </pc:sldChg>
      <pc:sldChg chg="modSp mod">
        <pc:chgData name="Brunty, Josh" userId="7992ed44-f1d9-4699-9cbe-15aa119e22eb" providerId="ADAL" clId="{2F75515C-F4F9-5900-9184-FE57F26EEB0C}" dt="2026-07-01T17:50:59.419" v="124" actId="20577"/>
        <pc:sldMkLst>
          <pc:docMk/>
          <pc:sldMk cId="0" sldId="274"/>
        </pc:sldMkLst>
        <pc:spChg chg="mod">
          <ac:chgData name="Brunty, Josh" userId="7992ed44-f1d9-4699-9cbe-15aa119e22eb" providerId="ADAL" clId="{2F75515C-F4F9-5900-9184-FE57F26EEB0C}" dt="2026-07-01T17:50:59.419" v="124" actId="20577"/>
          <ac:spMkLst>
            <pc:docMk/>
            <pc:sldMk cId="0" sldId="274"/>
            <ac:spMk id="129" creationId="{00000000-0000-0000-0000-000000000000}"/>
          </ac:spMkLst>
        </pc:spChg>
        <pc:spChg chg="mod">
          <ac:chgData name="Brunty, Josh" userId="7992ed44-f1d9-4699-9cbe-15aa119e22eb" providerId="ADAL" clId="{2F75515C-F4F9-5900-9184-FE57F26EEB0C}" dt="2026-07-01T17:46:44.034" v="96" actId="20577"/>
          <ac:spMkLst>
            <pc:docMk/>
            <pc:sldMk cId="0" sldId="274"/>
            <ac:spMk id="131" creationId="{00000000-0000-0000-0000-000000000000}"/>
          </ac:spMkLst>
        </pc:spChg>
      </pc:sldChg>
      <pc:sldChg chg="modSp mod">
        <pc:chgData name="Brunty, Josh" userId="7992ed44-f1d9-4699-9cbe-15aa119e22eb" providerId="ADAL" clId="{2F75515C-F4F9-5900-9184-FE57F26EEB0C}" dt="2026-07-01T17:48:47.014" v="106" actId="207"/>
        <pc:sldMkLst>
          <pc:docMk/>
          <pc:sldMk cId="0" sldId="275"/>
        </pc:sldMkLst>
        <pc:spChg chg="mod">
          <ac:chgData name="Brunty, Josh" userId="7992ed44-f1d9-4699-9cbe-15aa119e22eb" providerId="ADAL" clId="{2F75515C-F4F9-5900-9184-FE57F26EEB0C}" dt="2026-07-01T17:48:47.014" v="106" actId="207"/>
          <ac:spMkLst>
            <pc:docMk/>
            <pc:sldMk cId="0" sldId="275"/>
            <ac:spMk id="109" creationId="{00000000-0000-0000-0000-000000000000}"/>
          </ac:spMkLst>
        </pc:spChg>
      </pc:sldChg>
      <pc:sldChg chg="addSp delSp modSp add mod">
        <pc:chgData name="Brunty, Josh" userId="7992ed44-f1d9-4699-9cbe-15aa119e22eb" providerId="ADAL" clId="{2F75515C-F4F9-5900-9184-FE57F26EEB0C}" dt="2026-07-01T17:44:59.862" v="64" actId="1076"/>
        <pc:sldMkLst>
          <pc:docMk/>
          <pc:sldMk cId="3818687261" sldId="278"/>
        </pc:sldMkLst>
        <pc:spChg chg="del">
          <ac:chgData name="Brunty, Josh" userId="7992ed44-f1d9-4699-9cbe-15aa119e22eb" providerId="ADAL" clId="{2F75515C-F4F9-5900-9184-FE57F26EEB0C}" dt="2026-07-01T17:43:56.207" v="32" actId="478"/>
          <ac:spMkLst>
            <pc:docMk/>
            <pc:sldMk cId="3818687261" sldId="278"/>
            <ac:spMk id="116" creationId="{0D03CE68-5D43-6A7B-FF23-1249FBEAC3FE}"/>
          </ac:spMkLst>
        </pc:spChg>
        <pc:spChg chg="del">
          <ac:chgData name="Brunty, Josh" userId="7992ed44-f1d9-4699-9cbe-15aa119e22eb" providerId="ADAL" clId="{2F75515C-F4F9-5900-9184-FE57F26EEB0C}" dt="2026-07-01T17:43:54.578" v="31" actId="478"/>
          <ac:spMkLst>
            <pc:docMk/>
            <pc:sldMk cId="3818687261" sldId="278"/>
            <ac:spMk id="117" creationId="{613CBB5A-7EA7-806D-5E99-0CA51F02B949}"/>
          </ac:spMkLst>
        </pc:spChg>
        <pc:spChg chg="del">
          <ac:chgData name="Brunty, Josh" userId="7992ed44-f1d9-4699-9cbe-15aa119e22eb" providerId="ADAL" clId="{2F75515C-F4F9-5900-9184-FE57F26EEB0C}" dt="2026-07-01T17:43:57.799" v="33" actId="478"/>
          <ac:spMkLst>
            <pc:docMk/>
            <pc:sldMk cId="3818687261" sldId="278"/>
            <ac:spMk id="118" creationId="{49AA0A7C-2078-CD1D-5B43-81DBB1AA2849}"/>
          </ac:spMkLst>
        </pc:spChg>
        <pc:spChg chg="del mod">
          <ac:chgData name="Brunty, Josh" userId="7992ed44-f1d9-4699-9cbe-15aa119e22eb" providerId="ADAL" clId="{2F75515C-F4F9-5900-9184-FE57F26EEB0C}" dt="2026-07-01T17:44:55.425" v="63" actId="478"/>
          <ac:spMkLst>
            <pc:docMk/>
            <pc:sldMk cId="3818687261" sldId="278"/>
            <ac:spMk id="119" creationId="{4764A48F-72B5-C277-0078-1C3DD8C23839}"/>
          </ac:spMkLst>
        </pc:spChg>
        <pc:spChg chg="mod">
          <ac:chgData name="Brunty, Josh" userId="7992ed44-f1d9-4699-9cbe-15aa119e22eb" providerId="ADAL" clId="{2F75515C-F4F9-5900-9184-FE57F26EEB0C}" dt="2026-07-01T17:44:52.373" v="62" actId="20577"/>
          <ac:spMkLst>
            <pc:docMk/>
            <pc:sldMk cId="3818687261" sldId="278"/>
            <ac:spMk id="120" creationId="{C542D461-1EBC-7D71-FB74-9015298EAF56}"/>
          </ac:spMkLst>
        </pc:spChg>
        <pc:picChg chg="add mod">
          <ac:chgData name="Brunty, Josh" userId="7992ed44-f1d9-4699-9cbe-15aa119e22eb" providerId="ADAL" clId="{2F75515C-F4F9-5900-9184-FE57F26EEB0C}" dt="2026-07-01T17:44:59.862" v="64" actId="1076"/>
          <ac:picMkLst>
            <pc:docMk/>
            <pc:sldMk cId="3818687261" sldId="278"/>
            <ac:picMk id="2" creationId="{DA7D6513-BED3-DC22-D804-28C3000AFA6B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ddca8816e4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g3ddca8816e4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1304025" y="1495650"/>
            <a:ext cx="11783700" cy="27699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0" b="1" i="0" u="none" strike="noStrike" cap="none" dirty="0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Digital Forensics for CTFs</a:t>
            </a:r>
            <a:endParaRPr sz="171" b="1" dirty="0"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85" name="Google Shape;85;p13"/>
          <p:cNvSpPr txBox="1"/>
          <p:nvPr/>
        </p:nvSpPr>
        <p:spPr>
          <a:xfrm>
            <a:off x="1304036" y="5609632"/>
            <a:ext cx="6478500" cy="1938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i="0" u="none" strike="noStrike" cap="none" dirty="0">
                <a:solidFill>
                  <a:srgbClr val="B58225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CTF Training Series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4200" dirty="0">
              <a:solidFill>
                <a:srgbClr val="B58225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dirty="0">
                <a:solidFill>
                  <a:srgbClr val="B58225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Dr. Josh Brunty</a:t>
            </a:r>
            <a:endParaRPr sz="171" dirty="0"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0"/>
          <p:cNvSpPr txBox="1"/>
          <p:nvPr/>
        </p:nvSpPr>
        <p:spPr>
          <a:xfrm>
            <a:off x="1349076" y="1351225"/>
            <a:ext cx="13492500" cy="9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141" b="1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What Is Forensics?</a:t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39" name="Google Shape;139;p20"/>
          <p:cNvSpPr txBox="1"/>
          <p:nvPr/>
        </p:nvSpPr>
        <p:spPr>
          <a:xfrm>
            <a:off x="1333500" y="2519038"/>
            <a:ext cx="13291800" cy="526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i="0" u="none" strike="noStrike" cap="non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Forensics is recovering data that someone hid, deleted, or left behind — from files, disks, and memory — carefully enough that you can trust what you find. You're handed an artifact and a flag is concealed inside.</a:t>
            </a:r>
            <a:endParaRPr sz="3000" i="0" u="none" strike="noStrike" cap="non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endParaRPr sz="3000" i="0" u="none" strike="noStrike" cap="non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i="0" u="none" strike="noStrike" cap="non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The skill is knowing where data hides and which tool reveals it; the discipline is thoroughness, because these challenges love decoys. (Network captures are their own session. Today is files, disks, and metadata.)</a:t>
            </a:r>
            <a:endParaRPr sz="3000" i="0" u="none" strike="noStrike" cap="non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pic>
        <p:nvPicPr>
          <p:cNvPr id="140" name="Google Shape;140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0091350"/>
            <a:ext cx="18288001" cy="195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7"/>
          <p:cNvSpPr txBox="1"/>
          <p:nvPr/>
        </p:nvSpPr>
        <p:spPr>
          <a:xfrm>
            <a:off x="1349076" y="1351225"/>
            <a:ext cx="13966500" cy="9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141" b="1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Magic Bytes</a:t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08" name="Google Shape;108;p17"/>
          <p:cNvSpPr txBox="1"/>
          <p:nvPr/>
        </p:nvSpPr>
        <p:spPr>
          <a:xfrm>
            <a:off x="1333500" y="2769488"/>
            <a:ext cx="13291800" cy="24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i="0" u="none" strike="noStrike" cap="none">
                <a:solidFill>
                  <a:srgbClr val="B58225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A file's extension is just a label — it can lie. What a file really is comes from its first few bytes: the magic number.</a:t>
            </a:r>
            <a:endParaRPr sz="3000" i="0" u="none" strike="noStrike" cap="none">
              <a:solidFill>
                <a:srgbClr val="B58225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09" name="Google Shape;109;p17"/>
          <p:cNvSpPr txBox="1"/>
          <p:nvPr/>
        </p:nvSpPr>
        <p:spPr>
          <a:xfrm>
            <a:off x="1333500" y="5485600"/>
            <a:ext cx="11928600" cy="20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FF D8 FF — JPEG ; 89 50 4E 47 — PNG</a:t>
            </a:r>
            <a:endParaRPr sz="3000" i="0" u="none" strike="noStrike" cap="non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50 4B 03 04 — ZIP (also docx, apk, jar)</a:t>
            </a:r>
            <a:endParaRPr sz="3000" i="0" u="none" strike="noStrike" cap="non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file reads the header; xxd lets you see the bytes</a:t>
            </a:r>
            <a:endParaRPr sz="3000" i="0" u="none" strike="noStrike" cap="non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Magic marks the start — so data can hide after a file ends</a:t>
            </a:r>
            <a:endParaRPr sz="3000" i="0" u="none" strike="noStrike" cap="non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pic>
        <p:nvPicPr>
          <p:cNvPr id="110" name="Google Shape;110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0091350"/>
            <a:ext cx="18288001" cy="195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8"/>
          <p:cNvSpPr txBox="1"/>
          <p:nvPr/>
        </p:nvSpPr>
        <p:spPr>
          <a:xfrm>
            <a:off x="1333500" y="3312650"/>
            <a:ext cx="6413700" cy="434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EXIF: camera, GPS, timestamps, author</a:t>
            </a:r>
            <a:endParaRPr sz="3000" i="0" u="none" strike="noStrike" cap="non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Free-text fields: UserComment, ImageDescription</a:t>
            </a:r>
            <a:endParaRPr sz="3000" i="0" u="none" strike="noStrike" cap="non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Sometimes plain, sometimes Base64-encoded</a:t>
            </a:r>
            <a:endParaRPr sz="3000" i="0" u="none" strike="noStrike" cap="non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17" name="Google Shape;117;p18"/>
          <p:cNvSpPr txBox="1"/>
          <p:nvPr/>
        </p:nvSpPr>
        <p:spPr>
          <a:xfrm>
            <a:off x="1333500" y="2465350"/>
            <a:ext cx="60495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i="0" u="none" strike="noStrike" cap="none">
                <a:solidFill>
                  <a:srgbClr val="B58225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What hides there</a:t>
            </a:r>
            <a:endParaRPr sz="4200" i="0" u="none" strike="noStrike" cap="none">
              <a:solidFill>
                <a:srgbClr val="B58225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18" name="Google Shape;118;p18"/>
          <p:cNvSpPr txBox="1"/>
          <p:nvPr/>
        </p:nvSpPr>
        <p:spPr>
          <a:xfrm>
            <a:off x="9403442" y="3312650"/>
            <a:ext cx="6413700" cy="434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exiftool photo.jpg — dump every field</a:t>
            </a:r>
            <a:endParaRPr sz="3000" i="0" u="none" strike="noStrike" cap="non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Read all of it — one field may be a decoy</a:t>
            </a:r>
            <a:endParaRPr sz="3000" i="0" u="none" strike="noStrike" cap="non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strings works in a pinch if exiftool isn't there</a:t>
            </a:r>
            <a:endParaRPr sz="3000" i="0" u="none" strike="noStrike" cap="non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19" name="Google Shape;119;p18"/>
          <p:cNvSpPr txBox="1"/>
          <p:nvPr/>
        </p:nvSpPr>
        <p:spPr>
          <a:xfrm>
            <a:off x="8945125" y="2465350"/>
            <a:ext cx="71439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i="0" u="none" strike="noStrike" cap="none">
                <a:solidFill>
                  <a:srgbClr val="B58225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How to read it</a:t>
            </a:r>
            <a:endParaRPr sz="4200" i="0" u="none" strike="noStrike" cap="none">
              <a:solidFill>
                <a:srgbClr val="B58225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20" name="Google Shape;120;p18"/>
          <p:cNvSpPr txBox="1"/>
          <p:nvPr/>
        </p:nvSpPr>
        <p:spPr>
          <a:xfrm>
            <a:off x="1349077" y="1351225"/>
            <a:ext cx="14483700" cy="9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141" b="1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Metadata</a:t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pic>
        <p:nvPicPr>
          <p:cNvPr id="121" name="Google Shape;121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0091350"/>
            <a:ext cx="18288001" cy="195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7"/>
          <p:cNvSpPr txBox="1"/>
          <p:nvPr/>
        </p:nvSpPr>
        <p:spPr>
          <a:xfrm>
            <a:off x="1349076" y="1351225"/>
            <a:ext cx="13966500" cy="9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141" b="1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File Systems</a:t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08" name="Google Shape;108;p17"/>
          <p:cNvSpPr txBox="1"/>
          <p:nvPr/>
        </p:nvSpPr>
        <p:spPr>
          <a:xfrm>
            <a:off x="1333500" y="2769488"/>
            <a:ext cx="13291800" cy="24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i="0" u="none" strike="noStrike" cap="none">
                <a:solidFill>
                  <a:srgbClr val="B58225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A disk stores blocks of data plus bookkeeping that says which blocks belong to which file — a directory entry, inode, or MFT record.</a:t>
            </a:r>
            <a:endParaRPr sz="3000" i="0" u="none" strike="noStrike" cap="none">
              <a:solidFill>
                <a:srgbClr val="B58225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09" name="Google Shape;109;p17"/>
          <p:cNvSpPr txBox="1"/>
          <p:nvPr/>
        </p:nvSpPr>
        <p:spPr>
          <a:xfrm>
            <a:off x="1333500" y="5485600"/>
            <a:ext cx="11928600" cy="20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Space is either allocated (in use) or unallocated (free)</a:t>
            </a:r>
            <a:endParaRPr sz="3000" i="0" u="none" strike="noStrike" cap="non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Slack space can hold fragments of older data</a:t>
            </a:r>
            <a:endParaRPr sz="3000" i="0" u="none" strike="noStrike" cap="non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Deleting only frees the pointer — the data stays on disk</a:t>
            </a:r>
            <a:endParaRPr sz="3000" i="0" u="none" strike="noStrike" cap="non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So deleting isn't erasing: deleted files can be recovered</a:t>
            </a:r>
            <a:endParaRPr sz="3000" i="0" u="none" strike="noStrike" cap="non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pic>
        <p:nvPicPr>
          <p:cNvPr id="110" name="Google Shape;11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0091350"/>
            <a:ext cx="18288001" cy="195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9"/>
          <p:cNvSpPr txBox="1"/>
          <p:nvPr/>
        </p:nvSpPr>
        <p:spPr>
          <a:xfrm>
            <a:off x="1333500" y="3312650"/>
            <a:ext cx="6413700" cy="434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Appended data — a ZIP glued onto a JPEG</a:t>
            </a:r>
            <a:endParaRPr sz="3000" i="0" u="none" strike="noStrike" cap="none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Embedded files — a PNG inside a PDF</a:t>
            </a:r>
            <a:endParaRPr sz="3000" i="0" u="none" strike="noStrike" cap="none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Files with no directory entry, found by signature</a:t>
            </a:r>
            <a:endParaRPr sz="3000" i="0" u="none" strike="noStrike" cap="none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28" name="Google Shape;128;p19"/>
          <p:cNvSpPr txBox="1"/>
          <p:nvPr/>
        </p:nvSpPr>
        <p:spPr>
          <a:xfrm>
            <a:off x="1333500" y="2465350"/>
            <a:ext cx="60495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i="0" u="none" strike="noStrike" cap="none">
                <a:solidFill>
                  <a:srgbClr val="B58225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What it finds</a:t>
            </a:r>
            <a:endParaRPr sz="4200" i="0" u="none" strike="noStrike" cap="none">
              <a:solidFill>
                <a:srgbClr val="B58225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29" name="Google Shape;129;p19"/>
          <p:cNvSpPr txBox="1"/>
          <p:nvPr/>
        </p:nvSpPr>
        <p:spPr>
          <a:xfrm>
            <a:off x="9403442" y="3312650"/>
            <a:ext cx="6413700" cy="434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binwalk file — scan for embedded signatures</a:t>
            </a:r>
            <a:endParaRPr sz="3000" i="0" u="none" strike="noStrike" cap="none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binwalk -e — extract what it finds</a:t>
            </a:r>
            <a:endParaRPr sz="3000" i="0" u="none" strike="noStrike" cap="none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foremost, or unzip directly on the carrier</a:t>
            </a:r>
            <a:endParaRPr sz="3000" i="0" u="none" strike="noStrike" cap="none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30" name="Google Shape;130;p19"/>
          <p:cNvSpPr txBox="1"/>
          <p:nvPr/>
        </p:nvSpPr>
        <p:spPr>
          <a:xfrm>
            <a:off x="8945125" y="2465350"/>
            <a:ext cx="71439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i="0" u="none" strike="noStrike" cap="none">
                <a:solidFill>
                  <a:srgbClr val="B58225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Tools</a:t>
            </a:r>
            <a:endParaRPr sz="4200" i="0" u="none" strike="noStrike" cap="none">
              <a:solidFill>
                <a:srgbClr val="B58225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31" name="Google Shape;131;p19"/>
          <p:cNvSpPr txBox="1"/>
          <p:nvPr/>
        </p:nvSpPr>
        <p:spPr>
          <a:xfrm>
            <a:off x="1349077" y="1351225"/>
            <a:ext cx="14483700" cy="9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141" b="1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File Carving</a:t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pic>
        <p:nvPicPr>
          <p:cNvPr id="132" name="Google Shape;132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0091350"/>
            <a:ext cx="18288001" cy="195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8"/>
          <p:cNvSpPr txBox="1"/>
          <p:nvPr/>
        </p:nvSpPr>
        <p:spPr>
          <a:xfrm>
            <a:off x="9492324" y="3315713"/>
            <a:ext cx="6413700" cy="434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 dirty="0" err="1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fls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 image — list files; deleted marked with *</a:t>
            </a:r>
            <a:endParaRPr sz="3000" i="0" u="none" strike="noStrike" cap="none" dirty="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 dirty="0" err="1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icat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 image </a:t>
            </a:r>
            <a:r>
              <a:rPr lang="en-US" sz="3000" i="0" u="none" strike="noStrike" cap="none" dirty="0" err="1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inode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 — dump a file by its number</a:t>
            </a:r>
            <a:endParaRPr sz="3000" i="0" u="none" strike="noStrike" cap="none" dirty="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 dirty="0" err="1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fsstat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 / </a:t>
            </a:r>
            <a:r>
              <a:rPr lang="en-US" sz="3000" i="0" u="none" strike="noStrike" cap="none" dirty="0" err="1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istat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 — file-system and file details</a:t>
            </a:r>
            <a:endParaRPr sz="3000" i="0" u="none" strike="noStrike" cap="none" dirty="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17" name="Google Shape;117;p18"/>
          <p:cNvSpPr txBox="1"/>
          <p:nvPr/>
        </p:nvSpPr>
        <p:spPr>
          <a:xfrm>
            <a:off x="9492324" y="2468413"/>
            <a:ext cx="60495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i="0" u="none" strike="noStrike" cap="none" dirty="0">
                <a:solidFill>
                  <a:srgbClr val="B58225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The Sleuth Kit (CLI)</a:t>
            </a:r>
            <a:endParaRPr sz="4200" i="0" u="none" strike="noStrike" cap="none" dirty="0">
              <a:solidFill>
                <a:srgbClr val="B58225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18" name="Google Shape;118;p18"/>
          <p:cNvSpPr txBox="1"/>
          <p:nvPr/>
        </p:nvSpPr>
        <p:spPr>
          <a:xfrm>
            <a:off x="2381976" y="3299713"/>
            <a:ext cx="6413700" cy="434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Add the disk image as a data source</a:t>
            </a:r>
            <a:endParaRPr sz="3000" i="0" u="none" strike="noStrike" cap="non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Browse the file tree; deleted files are flagged</a:t>
            </a:r>
            <a:endParaRPr sz="3000" i="0" u="none" strike="noStrike" cap="non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Recover, keyword-search, and build a timeline</a:t>
            </a:r>
            <a:endParaRPr sz="3000" i="0" u="none" strike="noStrike" cap="non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19" name="Google Shape;119;p18"/>
          <p:cNvSpPr txBox="1"/>
          <p:nvPr/>
        </p:nvSpPr>
        <p:spPr>
          <a:xfrm>
            <a:off x="1923659" y="2452413"/>
            <a:ext cx="71439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i="0" u="none" strike="noStrike" cap="none" dirty="0">
                <a:solidFill>
                  <a:srgbClr val="B58225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Autopsy (GUI)</a:t>
            </a:r>
            <a:endParaRPr sz="4200" i="0" u="none" strike="noStrike" cap="none" dirty="0">
              <a:solidFill>
                <a:srgbClr val="B58225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20" name="Google Shape;120;p18"/>
          <p:cNvSpPr txBox="1"/>
          <p:nvPr/>
        </p:nvSpPr>
        <p:spPr>
          <a:xfrm>
            <a:off x="1349077" y="1351225"/>
            <a:ext cx="14483700" cy="9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141" b="1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Sleuth Kit &amp; Autopsy</a:t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pic>
        <p:nvPicPr>
          <p:cNvPr id="121" name="Google Shape;12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0091350"/>
            <a:ext cx="18288001" cy="195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5410F27-98F8-D2AC-316D-E6AE8276A6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4909" y="6492741"/>
            <a:ext cx="9901534" cy="300841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15">
          <a:extLst>
            <a:ext uri="{FF2B5EF4-FFF2-40B4-BE49-F238E27FC236}">
              <a16:creationId xmlns:a16="http://schemas.microsoft.com/office/drawing/2014/main" id="{206A4585-D7AE-7768-B07E-F36C253301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8">
            <a:extLst>
              <a:ext uri="{FF2B5EF4-FFF2-40B4-BE49-F238E27FC236}">
                <a16:creationId xmlns:a16="http://schemas.microsoft.com/office/drawing/2014/main" id="{C542D461-1EBC-7D71-FB74-9015298EAF56}"/>
              </a:ext>
            </a:extLst>
          </p:cNvPr>
          <p:cNvSpPr txBox="1"/>
          <p:nvPr/>
        </p:nvSpPr>
        <p:spPr>
          <a:xfrm>
            <a:off x="994513" y="1051608"/>
            <a:ext cx="14483700" cy="9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141" b="1" dirty="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Autopsy (GUI)</a:t>
            </a:r>
            <a:endParaRPr dirty="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pic>
        <p:nvPicPr>
          <p:cNvPr id="121" name="Google Shape;121;p18">
            <a:extLst>
              <a:ext uri="{FF2B5EF4-FFF2-40B4-BE49-F238E27FC236}">
                <a16:creationId xmlns:a16="http://schemas.microsoft.com/office/drawing/2014/main" id="{1B900C38-5166-61D9-6C1D-57B375DBE551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0091350"/>
            <a:ext cx="18288001" cy="195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DA7D6513-BED3-DC22-D804-28C3000AFA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4513" y="2375729"/>
            <a:ext cx="9045225" cy="7336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86872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7"/>
          <p:cNvSpPr txBox="1"/>
          <p:nvPr/>
        </p:nvSpPr>
        <p:spPr>
          <a:xfrm>
            <a:off x="1349076" y="1351225"/>
            <a:ext cx="13966500" cy="9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141" b="1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The Forensics Workflow</a:t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08" name="Google Shape;108;p17"/>
          <p:cNvSpPr txBox="1"/>
          <p:nvPr/>
        </p:nvSpPr>
        <p:spPr>
          <a:xfrm>
            <a:off x="1333500" y="2769488"/>
            <a:ext cx="13291800" cy="24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i="0" u="none" strike="noStrike" cap="none">
                <a:solidFill>
                  <a:srgbClr val="B58225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Same loop as every session — the artifact changes, the method doesn't.</a:t>
            </a:r>
            <a:endParaRPr sz="3000" i="0" u="none" strike="noStrike" cap="none">
              <a:solidFill>
                <a:srgbClr val="B58225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09" name="Google Shape;109;p17"/>
          <p:cNvSpPr txBox="1"/>
          <p:nvPr/>
        </p:nvSpPr>
        <p:spPr>
          <a:xfrm>
            <a:off x="1146886" y="3704151"/>
            <a:ext cx="15807613" cy="26468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ed Hat Display"/>
              <a:buChar char="●"/>
            </a:pPr>
            <a:r>
              <a:rPr lang="en-US" sz="4000" i="0" u="none" strike="noStrike" cap="none" dirty="0">
                <a:solidFill>
                  <a:srgbClr val="FFFF00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Identify</a:t>
            </a:r>
            <a:r>
              <a:rPr lang="en-US" sz="4000" i="0" u="none" strike="noStrike" cap="none" dirty="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 — file and </a:t>
            </a:r>
            <a:r>
              <a:rPr lang="en-US" sz="4000" i="0" u="none" strike="noStrike" cap="none" dirty="0" err="1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xxd</a:t>
            </a:r>
            <a:r>
              <a:rPr lang="en-US" sz="4000" i="0" u="none" strike="noStrike" cap="none" dirty="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: what is this, really?</a:t>
            </a:r>
            <a:endParaRPr sz="4000" i="0" u="none" strike="noStrike" cap="none" dirty="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ed Hat Display"/>
              <a:buChar char="●"/>
            </a:pPr>
            <a:r>
              <a:rPr lang="en-US" sz="4000" i="0" u="none" strike="noStrike" cap="none" dirty="0">
                <a:solidFill>
                  <a:srgbClr val="FFFF00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Inspect</a:t>
            </a:r>
            <a:r>
              <a:rPr lang="en-US" sz="4000" i="0" u="none" strike="noStrike" cap="none" dirty="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 — strings, </a:t>
            </a:r>
            <a:r>
              <a:rPr lang="en-US" sz="4000" i="0" u="none" strike="noStrike" cap="none" dirty="0" err="1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exiftool</a:t>
            </a:r>
            <a:r>
              <a:rPr lang="en-US" sz="4000" i="0" u="none" strike="noStrike" cap="none" dirty="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, </a:t>
            </a:r>
            <a:r>
              <a:rPr lang="en-US" sz="4000" i="0" u="none" strike="noStrike" cap="none" dirty="0" err="1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fls</a:t>
            </a:r>
            <a:r>
              <a:rPr lang="en-US" sz="4000" i="0" u="none" strike="noStrike" cap="none" dirty="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, Autopsy: read everything</a:t>
            </a:r>
            <a:endParaRPr sz="4000" i="0" u="none" strike="noStrike" cap="none" dirty="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ed Hat Display"/>
              <a:buChar char="●"/>
            </a:pPr>
            <a:r>
              <a:rPr lang="en-US" sz="4000" i="0" u="none" strike="noStrike" cap="none" dirty="0">
                <a:solidFill>
                  <a:srgbClr val="FFFF00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Extract</a:t>
            </a:r>
            <a:r>
              <a:rPr lang="en-US" sz="4000" i="0" u="none" strike="noStrike" cap="none" dirty="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 — carve files, recover deleted ones, pull artifacts</a:t>
            </a:r>
            <a:endParaRPr sz="4000" i="0" u="none" strike="noStrike" cap="none" dirty="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ed Hat Display"/>
              <a:buChar char="●"/>
            </a:pPr>
            <a:r>
              <a:rPr lang="en-US" sz="4000" i="0" u="none" strike="noStrike" cap="none" dirty="0">
                <a:solidFill>
                  <a:srgbClr val="FFFF00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Decode</a:t>
            </a:r>
            <a:r>
              <a:rPr lang="en-US" sz="4000" i="0" u="none" strike="noStrike" cap="none" dirty="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 — Base64/hex, then recover the CTF{...}</a:t>
            </a:r>
            <a:endParaRPr sz="4000" i="0" u="none" strike="noStrike" cap="none" dirty="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pic>
        <p:nvPicPr>
          <p:cNvPr id="110" name="Google Shape;11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0091350"/>
            <a:ext cx="18288001" cy="195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9"/>
          <p:cNvSpPr txBox="1"/>
          <p:nvPr/>
        </p:nvSpPr>
        <p:spPr>
          <a:xfrm>
            <a:off x="1333500" y="3312650"/>
            <a:ext cx="6413700" cy="434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file, xxd, strings — identify and read</a:t>
            </a:r>
            <a:endParaRPr sz="3000" i="0" u="none" strike="noStrike" cap="none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exiftool — image and document metadata</a:t>
            </a:r>
            <a:endParaRPr sz="3000" i="0" u="none" strike="noStrike" cap="none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binwalk, foremost — carve embedded files</a:t>
            </a:r>
            <a:endParaRPr sz="3000" i="0" u="none" strike="noStrike" cap="none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28" name="Google Shape;128;p19"/>
          <p:cNvSpPr txBox="1"/>
          <p:nvPr/>
        </p:nvSpPr>
        <p:spPr>
          <a:xfrm>
            <a:off x="1333500" y="2465350"/>
            <a:ext cx="60495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i="0" u="none" strike="noStrike" cap="none">
                <a:solidFill>
                  <a:srgbClr val="B58225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Identify &amp; carve</a:t>
            </a:r>
            <a:endParaRPr sz="4200" i="0" u="none" strike="noStrike" cap="none">
              <a:solidFill>
                <a:srgbClr val="B58225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29" name="Google Shape;129;p19"/>
          <p:cNvSpPr txBox="1"/>
          <p:nvPr/>
        </p:nvSpPr>
        <p:spPr>
          <a:xfrm>
            <a:off x="9403442" y="3312650"/>
            <a:ext cx="6413700" cy="341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Volatility</a:t>
            </a: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 dirty="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Sleuth Kit — </a:t>
            </a:r>
            <a:r>
              <a:rPr lang="en-US" sz="3000" i="0" u="none" strike="noStrike" cap="none" dirty="0" err="1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fls</a:t>
            </a:r>
            <a:r>
              <a:rPr lang="en-US" sz="3000" i="0" u="none" strike="noStrike" cap="none" dirty="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, </a:t>
            </a:r>
            <a:r>
              <a:rPr lang="en-US" sz="3000" i="0" u="none" strike="noStrike" cap="none" dirty="0" err="1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icat</a:t>
            </a:r>
            <a:r>
              <a:rPr lang="en-US" sz="3000" i="0" u="none" strike="noStrike" cap="none" dirty="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, </a:t>
            </a:r>
            <a:r>
              <a:rPr lang="en-US" sz="3000" i="0" u="none" strike="noStrike" cap="none" dirty="0" err="1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fsstat</a:t>
            </a:r>
            <a:r>
              <a:rPr lang="en-US" sz="3000" i="0" u="none" strike="noStrike" cap="none" dirty="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 on a disk image</a:t>
            </a:r>
            <a:endParaRPr sz="3000" i="0" u="none" strike="noStrike" cap="none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 dirty="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Autopsy — the GUI over the Sleuth Kit</a:t>
            </a:r>
            <a:endParaRPr sz="3000" i="0" u="none" strike="noStrike" cap="none"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 dirty="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strings + base64 — memory artifacts</a:t>
            </a:r>
          </a:p>
        </p:txBody>
      </p:sp>
      <p:sp>
        <p:nvSpPr>
          <p:cNvPr id="130" name="Google Shape;130;p19"/>
          <p:cNvSpPr txBox="1"/>
          <p:nvPr/>
        </p:nvSpPr>
        <p:spPr>
          <a:xfrm>
            <a:off x="8945125" y="2465350"/>
            <a:ext cx="71439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i="0" u="none" strike="noStrike" cap="none">
                <a:solidFill>
                  <a:srgbClr val="B58225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Disk &amp; memory</a:t>
            </a:r>
            <a:endParaRPr sz="4200" i="0" u="none" strike="noStrike" cap="none">
              <a:solidFill>
                <a:srgbClr val="B58225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31" name="Google Shape;131;p19"/>
          <p:cNvSpPr txBox="1"/>
          <p:nvPr/>
        </p:nvSpPr>
        <p:spPr>
          <a:xfrm>
            <a:off x="1349077" y="1351225"/>
            <a:ext cx="14483700" cy="9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141" b="1" dirty="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Your Forensics Toolkit</a:t>
            </a:r>
            <a:endParaRPr dirty="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pic>
        <p:nvPicPr>
          <p:cNvPr id="132" name="Google Shape;132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0091350"/>
            <a:ext cx="18288001" cy="195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7"/>
          <p:cNvSpPr txBox="1"/>
          <p:nvPr/>
        </p:nvSpPr>
        <p:spPr>
          <a:xfrm>
            <a:off x="1349076" y="1351225"/>
            <a:ext cx="13966500" cy="9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141" b="1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Hands-On: Four Artifacts</a:t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08" name="Google Shape;108;p17"/>
          <p:cNvSpPr txBox="1"/>
          <p:nvPr/>
        </p:nvSpPr>
        <p:spPr>
          <a:xfrm>
            <a:off x="1333500" y="2769488"/>
            <a:ext cx="13291800" cy="24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i="0" u="none" strike="noStrike" cap="none">
                <a:solidFill>
                  <a:srgbClr val="B58225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A seized workstation: four files, four flags, increasing difficulty. The artifacts are in your handout — enumerate first, decode last.</a:t>
            </a:r>
            <a:endParaRPr sz="3000" i="0" u="none" strike="noStrike" cap="none">
              <a:solidFill>
                <a:srgbClr val="B58225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09" name="Google Shape;109;p17"/>
          <p:cNvSpPr txBox="1"/>
          <p:nvPr/>
        </p:nvSpPr>
        <p:spPr>
          <a:xfrm>
            <a:off x="611604" y="4412627"/>
            <a:ext cx="17435763" cy="26468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ed Hat Display"/>
              <a:buChar char="●"/>
            </a:pPr>
            <a:r>
              <a:rPr lang="en-US" sz="4000" i="0" u="none" strike="noStrike" cap="none" dirty="0" err="1">
                <a:solidFill>
                  <a:srgbClr val="FFFF00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briefing.jpg</a:t>
            </a:r>
            <a:r>
              <a:rPr lang="en-US" sz="4000" i="0" u="none" strike="noStrike" cap="none" dirty="0">
                <a:solidFill>
                  <a:srgbClr val="FFFF00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 </a:t>
            </a:r>
            <a:r>
              <a:rPr lang="en-US" sz="4000" i="0" u="none" strike="noStrike" cap="none" dirty="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— the flag's in the metadata (one field is a decoy)</a:t>
            </a:r>
            <a:endParaRPr sz="4000" i="0" u="none" strike="noStrike" cap="none" dirty="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ed Hat Display"/>
              <a:buChar char="●"/>
            </a:pPr>
            <a:r>
              <a:rPr lang="en-US" sz="4000" i="0" u="none" strike="noStrike" cap="none" dirty="0" err="1">
                <a:solidFill>
                  <a:srgbClr val="FFFF00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evidence.jpg</a:t>
            </a:r>
            <a:r>
              <a:rPr lang="en-US" sz="4000" i="0" u="none" strike="noStrike" cap="none" dirty="0">
                <a:solidFill>
                  <a:srgbClr val="FFFF00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 </a:t>
            </a:r>
            <a:r>
              <a:rPr lang="en-US" sz="4000" i="0" u="none" strike="noStrike" cap="none" dirty="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— a second file is appended; carve it out</a:t>
            </a:r>
            <a:endParaRPr sz="4000" i="0" u="none" strike="noStrike" cap="none" dirty="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ed Hat Display"/>
              <a:buChar char="●"/>
            </a:pPr>
            <a:r>
              <a:rPr lang="en-US" sz="4000" i="0" u="none" strike="noStrike" cap="none" dirty="0">
                <a:solidFill>
                  <a:srgbClr val="FFFF00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case001.dd </a:t>
            </a:r>
            <a:r>
              <a:rPr lang="en-US" sz="4000" i="0" u="none" strike="noStrike" cap="none" dirty="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— recover the file the suspect deleted (Autopsy / Sleuth Kit)</a:t>
            </a:r>
            <a:endParaRPr sz="4000" i="0" u="none" strike="noStrike" cap="none" dirty="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ed Hat Display"/>
              <a:buChar char="●"/>
            </a:pPr>
            <a:r>
              <a:rPr lang="en-US" sz="4000" i="0" u="none" strike="noStrike" cap="none" dirty="0" err="1">
                <a:solidFill>
                  <a:srgbClr val="FFFF00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memory.raw</a:t>
            </a:r>
            <a:r>
              <a:rPr lang="en-US" sz="4000" i="0" u="none" strike="noStrike" cap="none" dirty="0">
                <a:solidFill>
                  <a:srgbClr val="FFFF00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 </a:t>
            </a:r>
            <a:r>
              <a:rPr lang="en-US" sz="4000" i="0" u="none" strike="noStrike" cap="none" dirty="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— bonus: the obvious flag is bait; the real one is encoded</a:t>
            </a:r>
            <a:endParaRPr sz="4000" i="0" u="none" strike="noStrike" cap="none" dirty="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pic>
        <p:nvPicPr>
          <p:cNvPr id="110" name="Google Shape;11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0091350"/>
            <a:ext cx="18288001" cy="195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8"/>
          <p:cNvSpPr txBox="1"/>
          <p:nvPr/>
        </p:nvSpPr>
        <p:spPr>
          <a:xfrm>
            <a:off x="1333500" y="3312650"/>
            <a:ext cx="6413700" cy="434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Trust the file extension</a:t>
            </a:r>
            <a:endParaRPr sz="3000" i="0" u="none" strike="noStrike" cap="non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Grab the first flag-shaped string — decoys abound</a:t>
            </a:r>
            <a:endParaRPr sz="3000" i="0" u="none" strike="noStrike" cap="non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Assume a deleted file is gone</a:t>
            </a:r>
            <a:endParaRPr sz="3000" i="0" u="none" strike="noStrike" cap="non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17" name="Google Shape;117;p18"/>
          <p:cNvSpPr txBox="1"/>
          <p:nvPr/>
        </p:nvSpPr>
        <p:spPr>
          <a:xfrm>
            <a:off x="1333500" y="2465350"/>
            <a:ext cx="60495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i="0" u="none" strike="noStrike" cap="none">
                <a:solidFill>
                  <a:srgbClr val="B58225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Don't</a:t>
            </a:r>
            <a:endParaRPr sz="4200" i="0" u="none" strike="noStrike" cap="none">
              <a:solidFill>
                <a:srgbClr val="B58225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18" name="Google Shape;118;p18"/>
          <p:cNvSpPr txBox="1"/>
          <p:nvPr/>
        </p:nvSpPr>
        <p:spPr>
          <a:xfrm>
            <a:off x="9403442" y="3312650"/>
            <a:ext cx="6413700" cy="434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Identify by magic bytes with file and xxd</a:t>
            </a:r>
            <a:endParaRPr sz="3000" i="0" u="none" strike="noStrike" cap="non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Run fls; recover deleted files with icat or Autopsy</a:t>
            </a:r>
            <a:endParaRPr sz="3000" i="0" u="none" strike="noStrike" cap="non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Cut the noise, then finish by decoding</a:t>
            </a:r>
            <a:endParaRPr sz="3000" i="0" u="none" strike="noStrike" cap="non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19" name="Google Shape;119;p18"/>
          <p:cNvSpPr txBox="1"/>
          <p:nvPr/>
        </p:nvSpPr>
        <p:spPr>
          <a:xfrm>
            <a:off x="8945125" y="2465350"/>
            <a:ext cx="71439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i="0" u="none" strike="noStrike" cap="none">
                <a:solidFill>
                  <a:srgbClr val="B58225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Do</a:t>
            </a:r>
            <a:endParaRPr sz="4200" i="0" u="none" strike="noStrike" cap="none">
              <a:solidFill>
                <a:srgbClr val="B58225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20" name="Google Shape;120;p18"/>
          <p:cNvSpPr txBox="1"/>
          <p:nvPr/>
        </p:nvSpPr>
        <p:spPr>
          <a:xfrm>
            <a:off x="1349077" y="1351225"/>
            <a:ext cx="14483700" cy="9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141" b="1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Common Pitfalls</a:t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pic>
        <p:nvPicPr>
          <p:cNvPr id="121" name="Google Shape;12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0091350"/>
            <a:ext cx="18288001" cy="195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0"/>
          <p:cNvSpPr txBox="1"/>
          <p:nvPr/>
        </p:nvSpPr>
        <p:spPr>
          <a:xfrm>
            <a:off x="1349076" y="1351225"/>
            <a:ext cx="13492500" cy="9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141" b="1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Before the Next Session</a:t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39" name="Google Shape;139;p20"/>
          <p:cNvSpPr txBox="1"/>
          <p:nvPr/>
        </p:nvSpPr>
        <p:spPr>
          <a:xfrm>
            <a:off x="1333500" y="2519038"/>
            <a:ext cx="13291800" cy="526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i="0" u="none" strike="noStrike" cap="non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Recap: identify by magic bytes, not the extension; data hides in metadata, past a file's end, in unallocated space, and in RAM; and remember — deleting isn't erasing, so Autopsy and the Sleuth Kit bring deleted files back.</a:t>
            </a:r>
            <a:endParaRPr sz="3000" i="0" u="none" strike="noStrike" cap="non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endParaRPr sz="3000" i="0" u="none" strike="noStrike" cap="non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i="0" u="none" strike="noStrike" cap="non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Homework: work the Forensics track on picoCTF, and install Autopsy to re-open case001.dd and recover the deleted file in the GUI. Next session — Reverse Engineering: taking apart a compiled binary to find what's hidden inside.</a:t>
            </a:r>
            <a:endParaRPr sz="3000" i="0" u="none" strike="noStrike" cap="non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pic>
        <p:nvPicPr>
          <p:cNvPr id="140" name="Google Shape;14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0091350"/>
            <a:ext cx="18288001" cy="195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787</Words>
  <Application>Microsoft Macintosh PowerPoint</Application>
  <PresentationFormat>Custom</PresentationFormat>
  <Paragraphs>83</Paragraphs>
  <Slides>13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Red Hat Display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Brunty, Josh</cp:lastModifiedBy>
  <cp:revision>1</cp:revision>
  <dcterms:modified xsi:type="dcterms:W3CDTF">2026-07-01T17:51:00Z</dcterms:modified>
</cp:coreProperties>
</file>